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  <p:embeddedFont>
      <p:font typeface="Inter Medium" panose="020B0604020202020204" charset="0"/>
      <p:regular r:id="rId13"/>
    </p:embeddedFont>
    <p:embeddedFont>
      <p:font typeface="Inter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hyperlink" Target="https://motipackaging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26" Type="http://schemas.openxmlformats.org/officeDocument/2006/relationships/image" Target="../media/image93.png"/><Relationship Id="rId3" Type="http://schemas.openxmlformats.org/officeDocument/2006/relationships/image" Target="../media/image70.png"/><Relationship Id="rId21" Type="http://schemas.openxmlformats.org/officeDocument/2006/relationships/image" Target="../media/image88.png"/><Relationship Id="rId34" Type="http://schemas.openxmlformats.org/officeDocument/2006/relationships/image" Target="../media/image10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33" Type="http://schemas.openxmlformats.org/officeDocument/2006/relationships/image" Target="../media/image100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24" Type="http://schemas.openxmlformats.org/officeDocument/2006/relationships/image" Target="../media/image91.png"/><Relationship Id="rId32" Type="http://schemas.openxmlformats.org/officeDocument/2006/relationships/image" Target="../media/image99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28" Type="http://schemas.openxmlformats.org/officeDocument/2006/relationships/image" Target="../media/image95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31" Type="http://schemas.openxmlformats.org/officeDocument/2006/relationships/image" Target="../media/image98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openxmlformats.org/officeDocument/2006/relationships/image" Target="../media/image89.png"/><Relationship Id="rId27" Type="http://schemas.openxmlformats.org/officeDocument/2006/relationships/image" Target="../media/image94.png"/><Relationship Id="rId30" Type="http://schemas.openxmlformats.org/officeDocument/2006/relationships/image" Target="../media/image97.png"/><Relationship Id="rId35" Type="http://schemas.openxmlformats.org/officeDocument/2006/relationships/image" Target="../media/image102.png"/><Relationship Id="rId8" Type="http://schemas.openxmlformats.org/officeDocument/2006/relationships/image" Target="../media/image7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3" Type="http://schemas.openxmlformats.org/officeDocument/2006/relationships/image" Target="../media/image129.png"/><Relationship Id="rId21" Type="http://schemas.openxmlformats.org/officeDocument/2006/relationships/image" Target="../media/image147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image" Target="../media/image128.png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23" Type="http://schemas.openxmlformats.org/officeDocument/2006/relationships/image" Target="../media/image149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8316" y="833922"/>
            <a:ext cx="8856708" cy="298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0"/>
              </a:lnSpc>
            </a:pPr>
            <a:r>
              <a:rPr lang="en-US" sz="7497" b="1" spc="-300">
                <a:solidFill>
                  <a:srgbClr val="1A2D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AI-Powered</a:t>
            </a:r>
          </a:p>
          <a:p>
            <a:pPr algn="l">
              <a:lnSpc>
                <a:spcPts val="7870"/>
              </a:lnSpc>
            </a:pPr>
            <a:r>
              <a:rPr lang="en-US" sz="7497" b="1" spc="-300">
                <a:solidFill>
                  <a:srgbClr val="1A2D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Lead Classification &amp; Automation System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6428009"/>
            <a:ext cx="6322048" cy="2153601"/>
          </a:xfrm>
          <a:custGeom>
            <a:avLst/>
            <a:gdLst/>
            <a:ahLst/>
            <a:cxnLst/>
            <a:rect l="l" t="t" r="r" b="b"/>
            <a:pathLst>
              <a:path w="6322048" h="2153601">
                <a:moveTo>
                  <a:pt x="0" y="0"/>
                </a:moveTo>
                <a:lnTo>
                  <a:pt x="6322048" y="0"/>
                </a:lnTo>
                <a:lnTo>
                  <a:pt x="6322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959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87732" y="2350377"/>
            <a:ext cx="6759560" cy="6231233"/>
          </a:xfrm>
          <a:custGeom>
            <a:avLst/>
            <a:gdLst/>
            <a:ahLst/>
            <a:cxnLst/>
            <a:rect l="l" t="t" r="r" b="b"/>
            <a:pathLst>
              <a:path w="6759560" h="6231233">
                <a:moveTo>
                  <a:pt x="0" y="0"/>
                </a:moveTo>
                <a:lnTo>
                  <a:pt x="6759560" y="0"/>
                </a:lnTo>
                <a:lnTo>
                  <a:pt x="6759560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403464" y="4711687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17598" y="2995365"/>
            <a:ext cx="2625072" cy="5148966"/>
          </a:xfrm>
          <a:custGeom>
            <a:avLst/>
            <a:gdLst/>
            <a:ahLst/>
            <a:cxnLst/>
            <a:rect l="l" t="t" r="r" b="b"/>
            <a:pathLst>
              <a:path w="2625072" h="5148966">
                <a:moveTo>
                  <a:pt x="0" y="0"/>
                </a:moveTo>
                <a:lnTo>
                  <a:pt x="2625072" y="0"/>
                </a:lnTo>
                <a:lnTo>
                  <a:pt x="2625072" y="5148965"/>
                </a:lnTo>
                <a:lnTo>
                  <a:pt x="0" y="51489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36354" y="5990729"/>
            <a:ext cx="1312536" cy="448211"/>
          </a:xfrm>
          <a:custGeom>
            <a:avLst/>
            <a:gdLst/>
            <a:ahLst/>
            <a:cxnLst/>
            <a:rect l="l" t="t" r="r" b="b"/>
            <a:pathLst>
              <a:path w="1312536" h="448211">
                <a:moveTo>
                  <a:pt x="0" y="0"/>
                </a:moveTo>
                <a:lnTo>
                  <a:pt x="1312536" y="0"/>
                </a:lnTo>
                <a:lnTo>
                  <a:pt x="131253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36354" y="6428009"/>
            <a:ext cx="2187560" cy="437279"/>
          </a:xfrm>
          <a:custGeom>
            <a:avLst/>
            <a:gdLst/>
            <a:ahLst/>
            <a:cxnLst/>
            <a:rect l="l" t="t" r="r" b="b"/>
            <a:pathLst>
              <a:path w="2187560" h="437279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236354" y="6854356"/>
            <a:ext cx="2187560" cy="437279"/>
          </a:xfrm>
          <a:custGeom>
            <a:avLst/>
            <a:gdLst/>
            <a:ahLst/>
            <a:cxnLst/>
            <a:rect l="l" t="t" r="r" b="b"/>
            <a:pathLst>
              <a:path w="2187560" h="437279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236354" y="7280704"/>
            <a:ext cx="2187560" cy="655919"/>
          </a:xfrm>
          <a:custGeom>
            <a:avLst/>
            <a:gdLst/>
            <a:ahLst/>
            <a:cxnLst/>
            <a:rect l="l" t="t" r="r" b="b"/>
            <a:pathLst>
              <a:path w="2187560" h="655919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694649" y="7578734"/>
            <a:ext cx="642596" cy="642596"/>
          </a:xfrm>
          <a:custGeom>
            <a:avLst/>
            <a:gdLst/>
            <a:ahLst/>
            <a:cxnLst/>
            <a:rect l="l" t="t" r="r" b="b"/>
            <a:pathLst>
              <a:path w="642596" h="642596">
                <a:moveTo>
                  <a:pt x="0" y="0"/>
                </a:moveTo>
                <a:lnTo>
                  <a:pt x="642595" y="0"/>
                </a:lnTo>
                <a:lnTo>
                  <a:pt x="642595" y="642596"/>
                </a:lnTo>
                <a:lnTo>
                  <a:pt x="0" y="6425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20429" y="4207132"/>
            <a:ext cx="5645390" cy="9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1" spc="-55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Transforming Customer Enquiries into Actionable Sales Leads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9997" y="5457389"/>
            <a:ext cx="7688550" cy="4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1" spc="-51">
                <a:solidFill>
                  <a:srgbClr val="29B9B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From scattered enquiries to organized sales leads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51077" y="7770742"/>
            <a:ext cx="2197603" cy="356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7"/>
              </a:lnSpc>
            </a:pPr>
            <a:r>
              <a:rPr lang="en-US" sz="2084" b="1" spc="-83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  <a:hlinkClick r:id="rId12" tooltip="https://motipackaging.com"/>
              </a:rPr>
              <a:t>MOTI PACKAGING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1253" y="6915344"/>
            <a:ext cx="1860157" cy="38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7"/>
              </a:lnSpc>
            </a:pPr>
            <a:r>
              <a:rPr lang="en-US" sz="2284" b="1" spc="-45">
                <a:solidFill>
                  <a:srgbClr val="1A2D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Presented by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495019" y="6500209"/>
            <a:ext cx="1584839" cy="25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441" b="1" spc="-28">
                <a:solidFill>
                  <a:srgbClr val="3D8B9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Automation Tools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5087" y="7754232"/>
            <a:ext cx="1856324" cy="37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2184" b="1" spc="-43">
                <a:solidFill>
                  <a:srgbClr val="1A2D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Company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71071" y="6915344"/>
            <a:ext cx="2359622" cy="38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7"/>
              </a:lnSpc>
            </a:pPr>
            <a:r>
              <a:rPr lang="en-US" sz="2284" b="1" spc="-91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Ramesh Kumar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01399" y="6043518"/>
            <a:ext cx="946803" cy="24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1"/>
              </a:lnSpc>
            </a:pPr>
            <a:r>
              <a:rPr lang="en-US" sz="1494" spc="-29">
                <a:solidFill>
                  <a:srgbClr val="E8F6F0"/>
                </a:solidFill>
                <a:latin typeface="Inter"/>
                <a:ea typeface="Inter"/>
                <a:cs typeface="Inter"/>
                <a:sym typeface="Inter"/>
              </a:rPr>
              <a:t>High Intent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502046" y="7444176"/>
            <a:ext cx="882098" cy="24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1"/>
              </a:lnSpc>
            </a:pPr>
            <a:r>
              <a:rPr lang="en-US" sz="1494" spc="-29">
                <a:solidFill>
                  <a:srgbClr val="E8F6F0"/>
                </a:solidFill>
                <a:latin typeface="Inter"/>
                <a:ea typeface="Inter"/>
                <a:cs typeface="Inter"/>
                <a:sym typeface="Inter"/>
              </a:rPr>
              <a:t>New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995365"/>
            <a:ext cx="8279914" cy="7291635"/>
          </a:xfrm>
          <a:custGeom>
            <a:avLst/>
            <a:gdLst/>
            <a:ahLst/>
            <a:cxnLst/>
            <a:rect l="l" t="t" r="r" b="b"/>
            <a:pathLst>
              <a:path w="8279914" h="7291635">
                <a:moveTo>
                  <a:pt x="0" y="0"/>
                </a:moveTo>
                <a:lnTo>
                  <a:pt x="8279914" y="0"/>
                </a:lnTo>
                <a:lnTo>
                  <a:pt x="8279914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3305" y="970185"/>
            <a:ext cx="10005106" cy="90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3"/>
              </a:lnSpc>
            </a:pPr>
            <a:r>
              <a:rPr lang="en-US" sz="6753" b="1" spc="-201">
                <a:solidFill>
                  <a:srgbClr val="1A2854"/>
                </a:solidFill>
                <a:latin typeface="Inter Bold"/>
                <a:ea typeface="Inter Bold"/>
                <a:cs typeface="Inter Bold"/>
                <a:sym typeface="Inter Bold"/>
              </a:rPr>
              <a:t>Project Introduction 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305" y="2155696"/>
            <a:ext cx="9911953" cy="407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387" b="1" spc="-47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Turning scattered enquiries into structured, actionable leads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421712"/>
            <a:ext cx="1750048" cy="1508614"/>
          </a:xfrm>
          <a:custGeom>
            <a:avLst/>
            <a:gdLst/>
            <a:ahLst/>
            <a:cxnLst/>
            <a:rect l="l" t="t" r="r" b="b"/>
            <a:pathLst>
              <a:path w="1750048" h="1508614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23305" y="3838255"/>
            <a:ext cx="1660922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 spc="-43">
                <a:solidFill>
                  <a:srgbClr val="F2F2F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Whatsapp</a:t>
            </a:r>
          </a:p>
        </p:txBody>
      </p:sp>
      <p:sp>
        <p:nvSpPr>
          <p:cNvPr id="8" name="Freeform 8"/>
          <p:cNvSpPr/>
          <p:nvPr/>
        </p:nvSpPr>
        <p:spPr>
          <a:xfrm>
            <a:off x="2176622" y="3421712"/>
            <a:ext cx="5228268" cy="1508614"/>
          </a:xfrm>
          <a:custGeom>
            <a:avLst/>
            <a:gdLst/>
            <a:ahLst/>
            <a:cxnLst/>
            <a:rect l="l" t="t" r="r" b="b"/>
            <a:pathLst>
              <a:path w="5228268" h="1508614">
                <a:moveTo>
                  <a:pt x="0" y="0"/>
                </a:moveTo>
                <a:lnTo>
                  <a:pt x="5228268" y="0"/>
                </a:lnTo>
                <a:lnTo>
                  <a:pt x="522826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695491" y="3639192"/>
            <a:ext cx="3699289" cy="100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Hi, I need pricing for your product. Our team is 25 people. Please share a demo.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4919394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176622" y="4919394"/>
            <a:ext cx="5228268" cy="1727254"/>
          </a:xfrm>
          <a:custGeom>
            <a:avLst/>
            <a:gdLst/>
            <a:ahLst/>
            <a:cxnLst/>
            <a:rect l="l" t="t" r="r" b="b"/>
            <a:pathLst>
              <a:path w="5228268" h="1727254">
                <a:moveTo>
                  <a:pt x="0" y="0"/>
                </a:moveTo>
                <a:lnTo>
                  <a:pt x="5228268" y="0"/>
                </a:lnTo>
                <a:lnTo>
                  <a:pt x="522826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695617" y="5310945"/>
            <a:ext cx="3686709" cy="100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Interested in your solution for our company. Budget around $20k. Let's connect next week.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6635716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176622" y="6635716"/>
            <a:ext cx="5228268" cy="1727254"/>
          </a:xfrm>
          <a:custGeom>
            <a:avLst/>
            <a:gdLst/>
            <a:ahLst/>
            <a:cxnLst/>
            <a:rect l="l" t="t" r="r" b="b"/>
            <a:pathLst>
              <a:path w="5228268" h="1727254">
                <a:moveTo>
                  <a:pt x="0" y="0"/>
                </a:moveTo>
                <a:lnTo>
                  <a:pt x="5228268" y="0"/>
                </a:lnTo>
                <a:lnTo>
                  <a:pt x="522826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698443" y="6967637"/>
            <a:ext cx="3404112" cy="100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We’re looking for automation tools to handle more leads. </a:t>
            </a:r>
          </a:p>
          <a:p>
            <a:pPr algn="l">
              <a:lnSpc>
                <a:spcPts val="2780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Can this integrate with CRM?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194" y="8574983"/>
            <a:ext cx="5626495" cy="88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 b="1" spc="-51">
                <a:solidFill>
                  <a:srgbClr val="1A28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Different sources. Different formats.</a:t>
            </a:r>
            <a:r>
              <a:rPr lang="en-US" sz="2575" b="1" spc="-51">
                <a:solidFill>
                  <a:srgbClr val="26ACB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One clear opportunity.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50220" y="4493047"/>
            <a:ext cx="2406316" cy="1727254"/>
          </a:xfrm>
          <a:custGeom>
            <a:avLst/>
            <a:gdLst/>
            <a:ahLst/>
            <a:cxnLst/>
            <a:rect l="l" t="t" r="r" b="b"/>
            <a:pathLst>
              <a:path w="2406316" h="1727254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883110" y="1071335"/>
            <a:ext cx="6759560" cy="1289974"/>
          </a:xfrm>
          <a:custGeom>
            <a:avLst/>
            <a:gdLst/>
            <a:ahLst/>
            <a:cxnLst/>
            <a:rect l="l" t="t" r="r" b="b"/>
            <a:pathLst>
              <a:path w="6759560" h="1289974">
                <a:moveTo>
                  <a:pt x="0" y="0"/>
                </a:moveTo>
                <a:lnTo>
                  <a:pt x="6759560" y="0"/>
                </a:lnTo>
                <a:lnTo>
                  <a:pt x="675956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1704919" y="1526509"/>
            <a:ext cx="3688370" cy="438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5"/>
              </a:lnSpc>
            </a:pPr>
            <a:r>
              <a:rPr lang="en-US" sz="2575" b="1" spc="-51">
                <a:solidFill>
                  <a:srgbClr val="F2F2F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Structured Lead Record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883110" y="2142670"/>
            <a:ext cx="6759560" cy="6220301"/>
          </a:xfrm>
          <a:custGeom>
            <a:avLst/>
            <a:gdLst/>
            <a:ahLst/>
            <a:cxnLst/>
            <a:rect l="l" t="t" r="r" b="b"/>
            <a:pathLst>
              <a:path w="6759560" h="6220301">
                <a:moveTo>
                  <a:pt x="0" y="0"/>
                </a:moveTo>
                <a:lnTo>
                  <a:pt x="6759560" y="0"/>
                </a:lnTo>
                <a:lnTo>
                  <a:pt x="6759560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459365" y="2534198"/>
            <a:ext cx="635399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Name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11633" y="2534198"/>
            <a:ext cx="1684365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Acme Solutions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516484" y="3121571"/>
            <a:ext cx="1199214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Jordan Lee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94473" y="3724005"/>
            <a:ext cx="3400403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jordan.lee@acmesolutions.com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50182" y="4341499"/>
            <a:ext cx="1553675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Company Size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17843" y="4341499"/>
            <a:ext cx="1063376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25 people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510165" y="4958994"/>
            <a:ext cx="1831178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Packaging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14343" y="5606610"/>
            <a:ext cx="1413378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Around $20k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510537" y="6224104"/>
            <a:ext cx="2264791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Sample next week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495232" y="6871720"/>
            <a:ext cx="3324474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Whatsapp, Email, Live Chat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517758" y="7504276"/>
            <a:ext cx="1071840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New Lead</a:t>
            </a:r>
          </a:p>
        </p:txBody>
      </p:sp>
      <p:sp>
        <p:nvSpPr>
          <p:cNvPr id="32" name="Freeform 32"/>
          <p:cNvSpPr/>
          <p:nvPr/>
        </p:nvSpPr>
        <p:spPr>
          <a:xfrm>
            <a:off x="10883110" y="8133399"/>
            <a:ext cx="6759560" cy="1082267"/>
          </a:xfrm>
          <a:custGeom>
            <a:avLst/>
            <a:gdLst/>
            <a:ahLst/>
            <a:cxnLst/>
            <a:rect l="l" t="t" r="r" b="b"/>
            <a:pathLst>
              <a:path w="6759560" h="1082267">
                <a:moveTo>
                  <a:pt x="0" y="0"/>
                </a:moveTo>
                <a:lnTo>
                  <a:pt x="6759560" y="0"/>
                </a:lnTo>
                <a:lnTo>
                  <a:pt x="6759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2312549" y="8403538"/>
            <a:ext cx="3785776" cy="39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sz="2355" b="1" spc="-47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Ready for Sales Follow-Up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3305" y="7151640"/>
            <a:ext cx="1660922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 spc="-43">
                <a:solidFill>
                  <a:srgbClr val="F2F2F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Live</a:t>
            </a:r>
          </a:p>
          <a:p>
            <a:pPr algn="ctr">
              <a:lnSpc>
                <a:spcPts val="2626"/>
              </a:lnSpc>
            </a:pPr>
            <a:r>
              <a:rPr lang="en-US" sz="2188" b="1" spc="-43">
                <a:solidFill>
                  <a:srgbClr val="F2F2F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Chat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5156" y="6224104"/>
            <a:ext cx="1056286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Next Step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3305" y="5655596"/>
            <a:ext cx="1660922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sz="2188" b="1" spc="-43">
                <a:solidFill>
                  <a:srgbClr val="F2F2F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Email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457974" y="5606610"/>
            <a:ext cx="774436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Budget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57188" y="3121571"/>
            <a:ext cx="853102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Contact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57495" y="4958994"/>
            <a:ext cx="822341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Interest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458046" y="6871720"/>
            <a:ext cx="767233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Source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8827" y="7504276"/>
            <a:ext cx="689136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Status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59926" y="3724005"/>
            <a:ext cx="579254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4" b="1" spc="-35">
                <a:solidFill>
                  <a:srgbClr val="29324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9739" y="695531"/>
            <a:ext cx="10677677" cy="1177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88"/>
              </a:lnSpc>
            </a:pPr>
            <a:r>
              <a:rPr lang="en-US" sz="7822" b="1" spc="-156">
                <a:solidFill>
                  <a:srgbClr val="17295A"/>
                </a:solidFill>
                <a:latin typeface="Inter Bold"/>
                <a:ea typeface="Inter Bold"/>
                <a:cs typeface="Inter Bold"/>
                <a:sym typeface="Inter Bold"/>
              </a:rPr>
              <a:t>The Current Challenge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1518" y="1852759"/>
            <a:ext cx="8499753" cy="432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3"/>
              </a:lnSpc>
            </a:pPr>
            <a:r>
              <a:rPr lang="en-US" sz="2355" b="1" spc="-47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Why turning enquiries into sales-ready leads is still difficult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3848060"/>
            <a:ext cx="3500096" cy="5586245"/>
          </a:xfrm>
          <a:custGeom>
            <a:avLst/>
            <a:gdLst/>
            <a:ahLst/>
            <a:cxnLst/>
            <a:rect l="l" t="t" r="r" b="b"/>
            <a:pathLst>
              <a:path w="3500096" h="5586245">
                <a:moveTo>
                  <a:pt x="0" y="0"/>
                </a:moveTo>
                <a:lnTo>
                  <a:pt x="3500096" y="0"/>
                </a:lnTo>
                <a:lnTo>
                  <a:pt x="350009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0354" y="2776725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1598" y="4493047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87128" y="6088523"/>
            <a:ext cx="2369977" cy="133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55">
                <a:solidFill>
                  <a:srgbClr val="1729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Enquiries are spread across sources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174" y="7685405"/>
            <a:ext cx="2465462" cy="110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Information arrives</a:t>
            </a:r>
          </a:p>
          <a:p>
            <a:pPr algn="l">
              <a:lnSpc>
                <a:spcPts val="2979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from many channels</a:t>
            </a:r>
          </a:p>
          <a:p>
            <a:pPr algn="l">
              <a:lnSpc>
                <a:spcPts val="2979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in different formats.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3915732" y="3848060"/>
            <a:ext cx="3489158" cy="5586245"/>
          </a:xfrm>
          <a:custGeom>
            <a:avLst/>
            <a:gdLst/>
            <a:ahLst/>
            <a:cxnLst/>
            <a:rect l="l" t="t" r="r" b="b"/>
            <a:pathLst>
              <a:path w="3489158" h="5586245">
                <a:moveTo>
                  <a:pt x="0" y="0"/>
                </a:moveTo>
                <a:lnTo>
                  <a:pt x="3489158" y="0"/>
                </a:lnTo>
                <a:lnTo>
                  <a:pt x="3489158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998574" y="277672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54613" y="3035497"/>
            <a:ext cx="325036" cy="63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5"/>
              </a:lnSpc>
            </a:pPr>
            <a:r>
              <a:rPr lang="en-US" sz="4170" b="1" spc="-83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</a:t>
            </a:r>
          </a:p>
        </p:txBody>
      </p:sp>
      <p:sp>
        <p:nvSpPr>
          <p:cNvPr id="13" name="Freeform 13"/>
          <p:cNvSpPr/>
          <p:nvPr/>
        </p:nvSpPr>
        <p:spPr>
          <a:xfrm>
            <a:off x="4998574" y="4493047"/>
            <a:ext cx="1323474" cy="1508614"/>
          </a:xfrm>
          <a:custGeom>
            <a:avLst/>
            <a:gdLst/>
            <a:ahLst/>
            <a:cxnLst/>
            <a:rect l="l" t="t" r="r" b="b"/>
            <a:pathLst>
              <a:path w="1323474" h="150861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318082" y="6088523"/>
            <a:ext cx="2174570" cy="1332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55">
                <a:solidFill>
                  <a:srgbClr val="1729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Customer details are unstructured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259505" y="7685851"/>
            <a:ext cx="2674544" cy="141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 spc="-38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Key data is incomplete or inconsistent, making it hard</a:t>
            </a:r>
          </a:p>
          <a:p>
            <a:pPr algn="l">
              <a:lnSpc>
                <a:spcPts val="2874"/>
              </a:lnSpc>
            </a:pPr>
            <a:r>
              <a:rPr lang="en-US" sz="1916" b="1" spc="-38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to use.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7393952" y="3848060"/>
            <a:ext cx="3500096" cy="5586245"/>
          </a:xfrm>
          <a:custGeom>
            <a:avLst/>
            <a:gdLst/>
            <a:ahLst/>
            <a:cxnLst/>
            <a:rect l="l" t="t" r="r" b="b"/>
            <a:pathLst>
              <a:path w="3500096" h="5586245">
                <a:moveTo>
                  <a:pt x="0" y="0"/>
                </a:moveTo>
                <a:lnTo>
                  <a:pt x="3500096" y="0"/>
                </a:lnTo>
                <a:lnTo>
                  <a:pt x="3500096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706488" y="2776725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986366" y="3035497"/>
            <a:ext cx="333842" cy="63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5"/>
              </a:lnSpc>
            </a:pPr>
            <a:r>
              <a:rPr lang="en-US" sz="4170" b="1" spc="-83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3</a:t>
            </a:r>
          </a:p>
        </p:txBody>
      </p:sp>
      <p:sp>
        <p:nvSpPr>
          <p:cNvPr id="19" name="Freeform 19"/>
          <p:cNvSpPr/>
          <p:nvPr/>
        </p:nvSpPr>
        <p:spPr>
          <a:xfrm>
            <a:off x="8487732" y="4493047"/>
            <a:ext cx="1312536" cy="1300906"/>
          </a:xfrm>
          <a:custGeom>
            <a:avLst/>
            <a:gdLst/>
            <a:ahLst/>
            <a:cxnLst/>
            <a:rect l="l" t="t" r="r" b="b"/>
            <a:pathLst>
              <a:path w="1312536" h="1300906">
                <a:moveTo>
                  <a:pt x="0" y="0"/>
                </a:moveTo>
                <a:lnTo>
                  <a:pt x="1312536" y="0"/>
                </a:lnTo>
                <a:lnTo>
                  <a:pt x="1312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770026" y="6088523"/>
            <a:ext cx="2559155" cy="886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55">
                <a:solidFill>
                  <a:srgbClr val="1729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Product needs may be unclear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71903" y="7685405"/>
            <a:ext cx="2371403" cy="110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Enquiries often lack context, intent,</a:t>
            </a:r>
          </a:p>
          <a:p>
            <a:pPr algn="l">
              <a:lnSpc>
                <a:spcPts val="2979"/>
              </a:lnSpc>
            </a:pPr>
            <a:r>
              <a:rPr lang="en-US" sz="1986" b="1" spc="-39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or buying signals.</a:t>
            </a:r>
          </a:p>
        </p:txBody>
      </p:sp>
      <p:sp>
        <p:nvSpPr>
          <p:cNvPr id="22" name="Freeform 22"/>
          <p:cNvSpPr/>
          <p:nvPr/>
        </p:nvSpPr>
        <p:spPr>
          <a:xfrm>
            <a:off x="10883110" y="3848060"/>
            <a:ext cx="3489158" cy="5586245"/>
          </a:xfrm>
          <a:custGeom>
            <a:avLst/>
            <a:gdLst/>
            <a:ahLst/>
            <a:cxnLst/>
            <a:rect l="l" t="t" r="r" b="b"/>
            <a:pathLst>
              <a:path w="3489158" h="5586245">
                <a:moveTo>
                  <a:pt x="0" y="0"/>
                </a:moveTo>
                <a:lnTo>
                  <a:pt x="3489158" y="0"/>
                </a:lnTo>
                <a:lnTo>
                  <a:pt x="3489158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184708" y="277672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965952" y="4493047"/>
            <a:ext cx="1542230" cy="1508614"/>
          </a:xfrm>
          <a:custGeom>
            <a:avLst/>
            <a:gdLst/>
            <a:ahLst/>
            <a:cxnLst/>
            <a:rect l="l" t="t" r="r" b="b"/>
            <a:pathLst>
              <a:path w="1542230" h="1508614">
                <a:moveTo>
                  <a:pt x="0" y="0"/>
                </a:moveTo>
                <a:lnTo>
                  <a:pt x="1542230" y="0"/>
                </a:lnTo>
                <a:lnTo>
                  <a:pt x="1542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306883" y="6088523"/>
            <a:ext cx="2489036" cy="886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55">
                <a:solidFill>
                  <a:srgbClr val="1729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Manual sorting takes time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06761" y="7685852"/>
            <a:ext cx="2501266" cy="105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 spc="-38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Teams spend hours reviewing and routing leads by hand.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361330" y="3848060"/>
            <a:ext cx="3718852" cy="5586245"/>
          </a:xfrm>
          <a:custGeom>
            <a:avLst/>
            <a:gdLst/>
            <a:ahLst/>
            <a:cxnLst/>
            <a:rect l="l" t="t" r="r" b="b"/>
            <a:pathLst>
              <a:path w="3718852" h="5586245">
                <a:moveTo>
                  <a:pt x="0" y="0"/>
                </a:moveTo>
                <a:lnTo>
                  <a:pt x="3718852" y="0"/>
                </a:lnTo>
                <a:lnTo>
                  <a:pt x="3718852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673866" y="2776725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5455110" y="4493047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4842977" y="6088523"/>
            <a:ext cx="2495264" cy="886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55">
                <a:solidFill>
                  <a:srgbClr val="1729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Follow-ups are harder to track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46954" y="7685851"/>
            <a:ext cx="2097560" cy="105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 spc="-38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Important leads</a:t>
            </a:r>
          </a:p>
          <a:p>
            <a:pPr algn="l">
              <a:lnSpc>
                <a:spcPts val="2874"/>
              </a:lnSpc>
            </a:pPr>
            <a:r>
              <a:rPr lang="en-US" sz="1916" b="1" spc="-38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get missed or lose momentum.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67827" y="3035497"/>
            <a:ext cx="350388" cy="63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5"/>
              </a:lnSpc>
            </a:pPr>
            <a:r>
              <a:rPr lang="en-US" sz="4170" b="1" spc="-83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091738" y="3035497"/>
            <a:ext cx="321300" cy="63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5"/>
              </a:lnSpc>
            </a:pPr>
            <a:r>
              <a:rPr lang="en-US" sz="4170" b="1" spc="-83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73430" y="3035497"/>
            <a:ext cx="215089" cy="63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5"/>
              </a:lnSpc>
            </a:pPr>
            <a:r>
              <a:rPr lang="en-US" sz="4170" b="1" spc="-83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5369" y="678859"/>
            <a:ext cx="12077959" cy="918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b="1" spc="-68">
                <a:solidFill>
                  <a:srgbClr val="1E2F5B"/>
                </a:solidFill>
                <a:latin typeface="Inter Bold"/>
                <a:ea typeface="Inter Bold"/>
                <a:cs typeface="Inter Bold"/>
                <a:sym typeface="Inter Bold"/>
              </a:rPr>
              <a:t>What the Project Aims to Do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8159" y="1818570"/>
            <a:ext cx="9798951" cy="328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b="1" spc="-24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Six clear enquiries that turn enquiries into actionable sales leads</a:t>
            </a:r>
          </a:p>
        </p:txBody>
      </p:sp>
      <p:sp>
        <p:nvSpPr>
          <p:cNvPr id="5" name="Freeform 5"/>
          <p:cNvSpPr/>
          <p:nvPr/>
        </p:nvSpPr>
        <p:spPr>
          <a:xfrm>
            <a:off x="1301598" y="2569017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6574" y="3421712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64086" y="3848060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98194" y="6266243"/>
            <a:ext cx="1795476" cy="76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1" spc="-59">
                <a:solidFill>
                  <a:srgbClr val="293354"/>
                </a:solidFill>
                <a:latin typeface="Inter Bold"/>
                <a:ea typeface="Inter Bold"/>
                <a:cs typeface="Inter Bold"/>
                <a:sym typeface="Inter Bold"/>
              </a:rPr>
              <a:t>Bring enquiries together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2391" y="7247160"/>
            <a:ext cx="2375716" cy="15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Capture enquiries from website forms, emails, and live chat in one place.</a:t>
            </a:r>
          </a:p>
        </p:txBody>
      </p:sp>
      <p:sp>
        <p:nvSpPr>
          <p:cNvPr id="10" name="Freeform 10"/>
          <p:cNvSpPr/>
          <p:nvPr/>
        </p:nvSpPr>
        <p:spPr>
          <a:xfrm>
            <a:off x="2821952" y="4493047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134488" y="2569017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478220" y="3421712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915732" y="3848060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540012" y="6266243"/>
            <a:ext cx="2293381" cy="76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1" spc="-59">
                <a:solidFill>
                  <a:srgbClr val="38A9A9"/>
                </a:solidFill>
                <a:latin typeface="Inter Bold"/>
                <a:ea typeface="Inter Bold"/>
                <a:cs typeface="Inter Bold"/>
                <a:sym typeface="Inter Bold"/>
              </a:rPr>
              <a:t>Extract customer and product details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39355" y="7247158"/>
            <a:ext cx="2359007" cy="15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Pull key information like name, contact, company, interest, and budget.</a:t>
            </a:r>
          </a:p>
        </p:txBody>
      </p:sp>
      <p:sp>
        <p:nvSpPr>
          <p:cNvPr id="16" name="Freeform 16"/>
          <p:cNvSpPr/>
          <p:nvPr/>
        </p:nvSpPr>
        <p:spPr>
          <a:xfrm>
            <a:off x="5873598" y="4493047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175196" y="2569017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311110" y="3421712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748622" y="3848060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494810" y="6266243"/>
            <a:ext cx="1493205" cy="76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1" spc="-59">
                <a:solidFill>
                  <a:srgbClr val="E1826F"/>
                </a:solidFill>
                <a:latin typeface="Inter Bold"/>
                <a:ea typeface="Inter Bold"/>
                <a:cs typeface="Inter Bold"/>
                <a:sym typeface="Inter Bold"/>
              </a:rPr>
              <a:t>Flag missing information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89367" y="7247158"/>
            <a:ext cx="2037558" cy="15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Identify gaps in the enquiry so the team knows what to ask</a:t>
            </a:r>
          </a:p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next.</a:t>
            </a:r>
          </a:p>
        </p:txBody>
      </p:sp>
      <p:sp>
        <p:nvSpPr>
          <p:cNvPr id="22" name="Freeform 22"/>
          <p:cNvSpPr/>
          <p:nvPr/>
        </p:nvSpPr>
        <p:spPr>
          <a:xfrm>
            <a:off x="8706488" y="4493047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008086" y="2569017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351818" y="3421712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570574" y="3848060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382069" y="6266244"/>
            <a:ext cx="2089179" cy="76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1" spc="-59">
                <a:solidFill>
                  <a:srgbClr val="4D8BAF"/>
                </a:solidFill>
                <a:latin typeface="Inter Bold"/>
                <a:ea typeface="Inter Bold"/>
                <a:cs typeface="Inter Bold"/>
                <a:sym typeface="Inter Bold"/>
              </a:rPr>
              <a:t>Use an LLM to classify enquiries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79462" y="7247158"/>
            <a:ext cx="2349911" cy="15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Understand intent and categorize enquiries to prioritize the right ones.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528440" y="4493047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2840976" y="2569017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184708" y="3421712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2622220" y="3848060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353750" y="6266243"/>
            <a:ext cx="2279703" cy="76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1" spc="-59">
                <a:solidFill>
                  <a:srgbClr val="388F8B"/>
                </a:solidFill>
                <a:latin typeface="Inter Bold"/>
                <a:ea typeface="Inter Bold"/>
                <a:cs typeface="Inter Bold"/>
                <a:sym typeface="Inter Bold"/>
              </a:rPr>
              <a:t>Save clean records in Google Sheets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55267" y="7247158"/>
            <a:ext cx="2128002" cy="15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Store structured, consistent lead</a:t>
            </a:r>
          </a:p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data for easy access</a:t>
            </a:r>
          </a:p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and reporting.</a:t>
            </a:r>
          </a:p>
        </p:txBody>
      </p:sp>
      <p:sp>
        <p:nvSpPr>
          <p:cNvPr id="34" name="Freeform 34"/>
          <p:cNvSpPr/>
          <p:nvPr/>
        </p:nvSpPr>
        <p:spPr>
          <a:xfrm>
            <a:off x="14580086" y="4493047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5892622" y="2569017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5236354" y="3421712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5455110" y="3848060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5277984" y="6266243"/>
            <a:ext cx="1857107" cy="76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1986" b="1" spc="-59">
                <a:solidFill>
                  <a:srgbClr val="F4CC60"/>
                </a:solidFill>
                <a:latin typeface="Inter Bold"/>
                <a:ea typeface="Inter Bold"/>
                <a:cs typeface="Inter Bold"/>
                <a:sym typeface="Inter Bold"/>
              </a:rPr>
              <a:t>Help the team</a:t>
            </a:r>
          </a:p>
          <a:p>
            <a:pPr algn="l">
              <a:lnSpc>
                <a:spcPts val="3177"/>
              </a:lnSpc>
            </a:pPr>
            <a:r>
              <a:rPr lang="en-US" sz="1986" b="1" spc="-59">
                <a:solidFill>
                  <a:srgbClr val="F4CC60"/>
                </a:solidFill>
                <a:latin typeface="Inter Bold"/>
                <a:ea typeface="Inter Bold"/>
                <a:cs typeface="Inter Bold"/>
                <a:sym typeface="Inter Bold"/>
              </a:rPr>
              <a:t>plan follow-ups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278014" y="7247158"/>
            <a:ext cx="1854046" cy="15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Provide clear next</a:t>
            </a:r>
          </a:p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steps so the team</a:t>
            </a:r>
          </a:p>
          <a:p>
            <a:pPr algn="l">
              <a:lnSpc>
                <a:spcPts val="3211"/>
              </a:lnSpc>
            </a:pPr>
            <a:r>
              <a:rPr lang="en-US" sz="1784" b="1" spc="-53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can engage with confidence.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38554" y="2907218"/>
            <a:ext cx="256738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3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54981" y="2907218"/>
            <a:ext cx="263898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3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368238" y="2907218"/>
            <a:ext cx="277400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3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299702" y="2907218"/>
            <a:ext cx="254488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3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6214391" y="2907218"/>
            <a:ext cx="265125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3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6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87375" y="2907218"/>
            <a:ext cx="172658" cy="41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3168" b="1" spc="-30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33513" y="700759"/>
            <a:ext cx="8979164" cy="1645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6246" b="1" spc="-125">
                <a:solidFill>
                  <a:srgbClr val="182A56"/>
                </a:solidFill>
                <a:latin typeface="Inter Bold"/>
                <a:ea typeface="Inter Bold"/>
                <a:cs typeface="Inter Bold"/>
                <a:sym typeface="Inter Bold"/>
              </a:rPr>
              <a:t>What Each Lead Record Contains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3305" y="2539367"/>
            <a:ext cx="7608094" cy="73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b="1" spc="-43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Every lead is captured with the details your team needs to qualify, clarify, and act with confidence.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3421712"/>
            <a:ext cx="16997340" cy="6231233"/>
          </a:xfrm>
          <a:custGeom>
            <a:avLst/>
            <a:gdLst/>
            <a:ahLst/>
            <a:cxnLst/>
            <a:rect l="l" t="t" r="r" b="b"/>
            <a:pathLst>
              <a:path w="16997340" h="6231233">
                <a:moveTo>
                  <a:pt x="0" y="0"/>
                </a:moveTo>
                <a:lnTo>
                  <a:pt x="16997340" y="0"/>
                </a:lnTo>
                <a:lnTo>
                  <a:pt x="16997340" y="6231233"/>
                </a:lnTo>
                <a:lnTo>
                  <a:pt x="0" y="62312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3421712"/>
            <a:ext cx="16997340" cy="1300906"/>
          </a:xfrm>
          <a:custGeom>
            <a:avLst/>
            <a:gdLst/>
            <a:ahLst/>
            <a:cxnLst/>
            <a:rect l="l" t="t" r="r" b="b"/>
            <a:pathLst>
              <a:path w="16997340" h="1300906">
                <a:moveTo>
                  <a:pt x="0" y="0"/>
                </a:moveTo>
                <a:lnTo>
                  <a:pt x="16997340" y="0"/>
                </a:lnTo>
                <a:lnTo>
                  <a:pt x="16997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286625" y="3845785"/>
            <a:ext cx="2678906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Product and</a:t>
            </a:r>
          </a:p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quantity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6659" y="5025719"/>
            <a:ext cx="1132514" cy="688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182A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BrightPath</a:t>
            </a:r>
          </a:p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182A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Logistics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14662" y="4965476"/>
            <a:ext cx="3397078" cy="104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Sarah Mitchell</a:t>
            </a:r>
          </a:p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sarah.mitchell@brightpath.com</a:t>
            </a:r>
          </a:p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(555) 123-4567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266676" y="4965476"/>
            <a:ext cx="1994894" cy="33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8000 pieces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8892" y="4965476"/>
            <a:ext cx="1489740" cy="33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Greater Noida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74195" y="4965476"/>
            <a:ext cx="2198477" cy="688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Specific payload</a:t>
            </a:r>
          </a:p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capacity,width.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236354" y="4919394"/>
            <a:ext cx="1968804" cy="874559"/>
          </a:xfrm>
          <a:custGeom>
            <a:avLst/>
            <a:gdLst/>
            <a:ahLst/>
            <a:cxnLst/>
            <a:rect l="l" t="t" r="r" b="b"/>
            <a:pathLst>
              <a:path w="1968804" h="874559">
                <a:moveTo>
                  <a:pt x="0" y="0"/>
                </a:moveTo>
                <a:lnTo>
                  <a:pt x="1968804" y="0"/>
                </a:lnTo>
                <a:lnTo>
                  <a:pt x="196880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02111" y="6546864"/>
            <a:ext cx="1587345" cy="688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182A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Greenfield</a:t>
            </a:r>
          </a:p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182A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Manufacturing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12484" y="6547687"/>
            <a:ext cx="3614889" cy="1047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3"/>
              </a:lnSpc>
            </a:pPr>
            <a:r>
              <a:rPr lang="en-US" sz="1784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Michael Chen</a:t>
            </a:r>
          </a:p>
          <a:p>
            <a:pPr algn="l">
              <a:lnSpc>
                <a:spcPts val="2853"/>
              </a:lnSpc>
            </a:pPr>
            <a:r>
              <a:rPr lang="en-US" sz="1784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michael.chen@greenfieldmfg.com</a:t>
            </a:r>
          </a:p>
          <a:p>
            <a:pPr algn="l">
              <a:lnSpc>
                <a:spcPts val="2853"/>
              </a:lnSpc>
            </a:pPr>
            <a:r>
              <a:rPr lang="en-US" sz="1784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(555) 234-5678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62693" y="6546864"/>
            <a:ext cx="2393220" cy="33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10000 pieces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95461" y="6546864"/>
            <a:ext cx="1832845" cy="33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Delhi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73094" y="6546864"/>
            <a:ext cx="2308569" cy="104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Site dimensions,</a:t>
            </a:r>
          </a:p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Power specifications,</a:t>
            </a:r>
          </a:p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Timeline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236354" y="6428009"/>
            <a:ext cx="1968804" cy="1082267"/>
          </a:xfrm>
          <a:custGeom>
            <a:avLst/>
            <a:gdLst/>
            <a:ahLst/>
            <a:cxnLst/>
            <a:rect l="l" t="t" r="r" b="b"/>
            <a:pathLst>
              <a:path w="1968804" h="1082267">
                <a:moveTo>
                  <a:pt x="0" y="0"/>
                </a:moveTo>
                <a:lnTo>
                  <a:pt x="1968804" y="0"/>
                </a:lnTo>
                <a:lnTo>
                  <a:pt x="1968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528127" y="6715680"/>
            <a:ext cx="1321008" cy="6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1916" b="1" spc="-57">
                <a:solidFill>
                  <a:srgbClr val="182A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Stationary Item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2340" y="8143313"/>
            <a:ext cx="1564458" cy="688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182A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Coastal Health</a:t>
            </a:r>
          </a:p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182A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Group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12483" y="8170331"/>
            <a:ext cx="3614947" cy="995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b="1" spc="-51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Emily Rodriguez</a:t>
            </a:r>
          </a:p>
          <a:p>
            <a:pPr algn="l">
              <a:lnSpc>
                <a:spcPts val="2783"/>
              </a:lnSpc>
            </a:pPr>
            <a:r>
              <a:rPr lang="en-US" sz="1740" b="1" spc="-51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emily.rodriguez@coastalhealth.org</a:t>
            </a:r>
          </a:p>
          <a:p>
            <a:pPr algn="l">
              <a:lnSpc>
                <a:spcPts val="2783"/>
              </a:lnSpc>
            </a:pPr>
            <a:r>
              <a:rPr lang="en-US" sz="1740" b="1" spc="-51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(555) 345-6789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64429" y="8143313"/>
            <a:ext cx="2219608" cy="33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4000 pieces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98135" y="8143313"/>
            <a:ext cx="1565388" cy="33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Ahemdabad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276390" y="8143313"/>
            <a:ext cx="1979003" cy="33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1810" b="1" spc="-53">
                <a:solidFill>
                  <a:srgbClr val="40404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Diameter, height</a:t>
            </a:r>
          </a:p>
        </p:txBody>
      </p:sp>
      <p:sp>
        <p:nvSpPr>
          <p:cNvPr id="26" name="Freeform 26"/>
          <p:cNvSpPr/>
          <p:nvPr/>
        </p:nvSpPr>
        <p:spPr>
          <a:xfrm>
            <a:off x="15236354" y="8133399"/>
            <a:ext cx="1968804" cy="1082267"/>
          </a:xfrm>
          <a:custGeom>
            <a:avLst/>
            <a:gdLst/>
            <a:ahLst/>
            <a:cxnLst/>
            <a:rect l="l" t="t" r="r" b="b"/>
            <a:pathLst>
              <a:path w="1968804" h="1082267">
                <a:moveTo>
                  <a:pt x="0" y="0"/>
                </a:moveTo>
                <a:lnTo>
                  <a:pt x="1968804" y="0"/>
                </a:lnTo>
                <a:lnTo>
                  <a:pt x="1968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5673544" y="8310543"/>
            <a:ext cx="1175590" cy="60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8"/>
              </a:lnSpc>
            </a:pPr>
            <a:r>
              <a:rPr lang="en-US" sz="1916" b="1" spc="-55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Packing</a:t>
            </a:r>
          </a:p>
          <a:p>
            <a:pPr algn="ctr">
              <a:lnSpc>
                <a:spcPts val="2490"/>
              </a:lnSpc>
            </a:pPr>
            <a:r>
              <a:rPr lang="en-US" sz="1916" b="1" spc="-57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Perfumes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296180" y="4013965"/>
            <a:ext cx="2678906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Missing Fields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13789" y="3845785"/>
            <a:ext cx="2678906" cy="64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Delivery</a:t>
            </a:r>
          </a:p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location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7984" y="4013965"/>
            <a:ext cx="2678906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Customer Name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48633" y="4013965"/>
            <a:ext cx="2678906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Contact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644812" y="4013965"/>
            <a:ext cx="2678906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Application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935277" y="5234380"/>
            <a:ext cx="794920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63" b="1" spc="-37" dirty="0">
                <a:solidFill>
                  <a:srgbClr val="F5F5F5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Jeans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3245" y="522913"/>
            <a:ext cx="7327056" cy="1876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9"/>
              </a:lnSpc>
            </a:pPr>
            <a:r>
              <a:rPr lang="en-US" sz="6566" b="1" spc="-195">
                <a:solidFill>
                  <a:srgbClr val="071F56"/>
                </a:solidFill>
                <a:latin typeface="Inter Bold"/>
                <a:ea typeface="Inter Bold"/>
                <a:cs typeface="Inter Bold"/>
                <a:sym typeface="Inter Bold"/>
              </a:rPr>
              <a:t>How the</a:t>
            </a:r>
          </a:p>
          <a:p>
            <a:pPr algn="l">
              <a:lnSpc>
                <a:spcPts val="7419"/>
              </a:lnSpc>
            </a:pPr>
            <a:r>
              <a:rPr lang="en-US" sz="6566" b="1" spc="-195">
                <a:solidFill>
                  <a:srgbClr val="071F56"/>
                </a:solidFill>
                <a:latin typeface="Inter Bold"/>
                <a:ea typeface="Inter Bold"/>
                <a:cs typeface="Inter Bold"/>
                <a:sym typeface="Inter Bold"/>
              </a:rPr>
              <a:t>Automation Works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8042" y="2624682"/>
            <a:ext cx="4847330" cy="373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 b="1" spc="-70">
                <a:solidFill>
                  <a:srgbClr val="5D5D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clear path from enquiry to action.</a:t>
            </a:r>
          </a:p>
        </p:txBody>
      </p:sp>
      <p:sp>
        <p:nvSpPr>
          <p:cNvPr id="5" name="Freeform 5"/>
          <p:cNvSpPr/>
          <p:nvPr/>
        </p:nvSpPr>
        <p:spPr>
          <a:xfrm>
            <a:off x="4353244" y="4285339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5330" y="3214004"/>
            <a:ext cx="3926670" cy="3006296"/>
          </a:xfrm>
          <a:custGeom>
            <a:avLst/>
            <a:gdLst/>
            <a:ahLst/>
            <a:cxnLst/>
            <a:rect l="l" t="t" r="r" b="b"/>
            <a:pathLst>
              <a:path w="3926670" h="3006296">
                <a:moveTo>
                  <a:pt x="0" y="0"/>
                </a:moveTo>
                <a:lnTo>
                  <a:pt x="3926670" y="0"/>
                </a:lnTo>
                <a:lnTo>
                  <a:pt x="3926670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5330" y="3214004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957866" y="3640352"/>
            <a:ext cx="2187560" cy="1289974"/>
          </a:xfrm>
          <a:custGeom>
            <a:avLst/>
            <a:gdLst/>
            <a:ahLst/>
            <a:cxnLst/>
            <a:rect l="l" t="t" r="r" b="b"/>
            <a:pathLst>
              <a:path w="2187560" h="1289974">
                <a:moveTo>
                  <a:pt x="0" y="0"/>
                </a:moveTo>
                <a:lnTo>
                  <a:pt x="2187560" y="0"/>
                </a:lnTo>
                <a:lnTo>
                  <a:pt x="218756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66242" y="5085041"/>
            <a:ext cx="2625328" cy="70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Enquiries from</a:t>
            </a:r>
          </a:p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2-3 sources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8706488" y="4285339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79818" y="3214004"/>
            <a:ext cx="4156364" cy="3006296"/>
          </a:xfrm>
          <a:custGeom>
            <a:avLst/>
            <a:gdLst/>
            <a:ahLst/>
            <a:cxnLst/>
            <a:rect l="l" t="t" r="r" b="b"/>
            <a:pathLst>
              <a:path w="4156364" h="3006296">
                <a:moveTo>
                  <a:pt x="0" y="0"/>
                </a:moveTo>
                <a:lnTo>
                  <a:pt x="4156364" y="0"/>
                </a:lnTo>
                <a:lnTo>
                  <a:pt x="4156364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779818" y="3214004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311110" y="3848060"/>
            <a:ext cx="1312536" cy="874559"/>
          </a:xfrm>
          <a:custGeom>
            <a:avLst/>
            <a:gdLst/>
            <a:ahLst/>
            <a:cxnLst/>
            <a:rect l="l" t="t" r="r" b="b"/>
            <a:pathLst>
              <a:path w="1312536" h="874559">
                <a:moveTo>
                  <a:pt x="0" y="0"/>
                </a:moveTo>
                <a:lnTo>
                  <a:pt x="1312536" y="0"/>
                </a:lnTo>
                <a:lnTo>
                  <a:pt x="131253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491758" y="5085041"/>
            <a:ext cx="2759273" cy="70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n8n starts the</a:t>
            </a:r>
          </a:p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workflow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840976" y="4285339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144000" y="3214004"/>
            <a:ext cx="3926670" cy="3006296"/>
          </a:xfrm>
          <a:custGeom>
            <a:avLst/>
            <a:gdLst/>
            <a:ahLst/>
            <a:cxnLst/>
            <a:rect l="l" t="t" r="r" b="b"/>
            <a:pathLst>
              <a:path w="3926670" h="3006296">
                <a:moveTo>
                  <a:pt x="0" y="0"/>
                </a:moveTo>
                <a:lnTo>
                  <a:pt x="3926670" y="0"/>
                </a:lnTo>
                <a:lnTo>
                  <a:pt x="3926670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144000" y="3214004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430298" y="3693866"/>
            <a:ext cx="437710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 spc="-79">
                <a:solidFill>
                  <a:srgbClr val="F2F8F9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445598" y="3640352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644062" y="5085041"/>
            <a:ext cx="2920008" cy="70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Python processes</a:t>
            </a:r>
          </a:p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data</a:t>
            </a:r>
          </a:p>
        </p:txBody>
      </p:sp>
      <p:sp>
        <p:nvSpPr>
          <p:cNvPr id="21" name="Freeform 21"/>
          <p:cNvSpPr/>
          <p:nvPr/>
        </p:nvSpPr>
        <p:spPr>
          <a:xfrm>
            <a:off x="16756708" y="4711687"/>
            <a:ext cx="885962" cy="1727254"/>
          </a:xfrm>
          <a:custGeom>
            <a:avLst/>
            <a:gdLst/>
            <a:ahLst/>
            <a:cxnLst/>
            <a:rect l="l" t="t" r="r" b="b"/>
            <a:pathLst>
              <a:path w="885962" h="1727254">
                <a:moveTo>
                  <a:pt x="0" y="0"/>
                </a:moveTo>
                <a:lnTo>
                  <a:pt x="885962" y="0"/>
                </a:lnTo>
                <a:lnTo>
                  <a:pt x="88596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278488" y="3214004"/>
            <a:ext cx="3707914" cy="3006296"/>
          </a:xfrm>
          <a:custGeom>
            <a:avLst/>
            <a:gdLst/>
            <a:ahLst/>
            <a:cxnLst/>
            <a:rect l="l" t="t" r="r" b="b"/>
            <a:pathLst>
              <a:path w="3707914" h="3006296">
                <a:moveTo>
                  <a:pt x="0" y="0"/>
                </a:moveTo>
                <a:lnTo>
                  <a:pt x="3707914" y="0"/>
                </a:lnTo>
                <a:lnTo>
                  <a:pt x="3707914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3278488" y="3214004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603745" y="3693866"/>
            <a:ext cx="449003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 spc="-79">
                <a:solidFill>
                  <a:srgbClr val="F2F8F9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580086" y="3640352"/>
            <a:ext cx="1323474" cy="1289974"/>
          </a:xfrm>
          <a:custGeom>
            <a:avLst/>
            <a:gdLst/>
            <a:ahLst/>
            <a:cxnLst/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555266" y="5085041"/>
            <a:ext cx="3295055" cy="70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LLM classifies and structures the enquiry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5330" y="6854356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01598" y="6635716"/>
            <a:ext cx="3707914" cy="3017228"/>
          </a:xfrm>
          <a:custGeom>
            <a:avLst/>
            <a:gdLst/>
            <a:ahLst/>
            <a:cxnLst/>
            <a:rect l="l" t="t" r="r" b="b"/>
            <a:pathLst>
              <a:path w="3707914" h="3017228">
                <a:moveTo>
                  <a:pt x="0" y="0"/>
                </a:moveTo>
                <a:lnTo>
                  <a:pt x="3707914" y="0"/>
                </a:lnTo>
                <a:lnTo>
                  <a:pt x="3707914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01598" y="6635716"/>
            <a:ext cx="885962" cy="1300906"/>
          </a:xfrm>
          <a:custGeom>
            <a:avLst/>
            <a:gdLst/>
            <a:ahLst/>
            <a:cxnLst/>
            <a:rect l="l" t="t" r="r" b="b"/>
            <a:pathLst>
              <a:path w="885962" h="1300906">
                <a:moveTo>
                  <a:pt x="0" y="0"/>
                </a:moveTo>
                <a:lnTo>
                  <a:pt x="885962" y="0"/>
                </a:lnTo>
                <a:lnTo>
                  <a:pt x="88596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558249" y="7082555"/>
            <a:ext cx="429838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 spc="-79">
                <a:solidFill>
                  <a:srgbClr val="F2F8F9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id="31" name="Freeform 31"/>
          <p:cNvSpPr/>
          <p:nvPr/>
        </p:nvSpPr>
        <p:spPr>
          <a:xfrm>
            <a:off x="2603196" y="7062064"/>
            <a:ext cx="1323474" cy="1300906"/>
          </a:xfrm>
          <a:custGeom>
            <a:avLst/>
            <a:gdLst/>
            <a:ahLst/>
            <a:cxnLst/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553766" y="8549034"/>
            <a:ext cx="3187898" cy="70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Missing or unclear details are identified</a:t>
            </a:r>
          </a:p>
        </p:txBody>
      </p:sp>
      <p:sp>
        <p:nvSpPr>
          <p:cNvPr id="33" name="Freeform 33"/>
          <p:cNvSpPr/>
          <p:nvPr/>
        </p:nvSpPr>
        <p:spPr>
          <a:xfrm>
            <a:off x="4779818" y="7499343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5217330" y="6635716"/>
            <a:ext cx="3718852" cy="3017228"/>
          </a:xfrm>
          <a:custGeom>
            <a:avLst/>
            <a:gdLst/>
            <a:ahLst/>
            <a:cxnLst/>
            <a:rect l="l" t="t" r="r" b="b"/>
            <a:pathLst>
              <a:path w="3718852" h="3017228">
                <a:moveTo>
                  <a:pt x="0" y="0"/>
                </a:moveTo>
                <a:lnTo>
                  <a:pt x="3718852" y="0"/>
                </a:lnTo>
                <a:lnTo>
                  <a:pt x="3718852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5217330" y="6635716"/>
            <a:ext cx="885962" cy="1300906"/>
          </a:xfrm>
          <a:custGeom>
            <a:avLst/>
            <a:gdLst/>
            <a:ahLst/>
            <a:cxnLst/>
            <a:rect l="l" t="t" r="r" b="b"/>
            <a:pathLst>
              <a:path w="885962" h="1300906">
                <a:moveTo>
                  <a:pt x="0" y="0"/>
                </a:moveTo>
                <a:lnTo>
                  <a:pt x="885962" y="0"/>
                </a:lnTo>
                <a:lnTo>
                  <a:pt x="88596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491792" y="7082555"/>
            <a:ext cx="438736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 spc="-79">
                <a:solidFill>
                  <a:srgbClr val="F2F8F9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id="37" name="Freeform 37"/>
          <p:cNvSpPr/>
          <p:nvPr/>
        </p:nvSpPr>
        <p:spPr>
          <a:xfrm>
            <a:off x="6748622" y="7062064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5491758" y="8549034"/>
            <a:ext cx="3295055" cy="70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Google Sheets</a:t>
            </a:r>
          </a:p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stores organized leads</a:t>
            </a:r>
          </a:p>
        </p:txBody>
      </p:sp>
      <p:sp>
        <p:nvSpPr>
          <p:cNvPr id="39" name="Freeform 39"/>
          <p:cNvSpPr/>
          <p:nvPr/>
        </p:nvSpPr>
        <p:spPr>
          <a:xfrm>
            <a:off x="8706488" y="7499343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9351818" y="6635716"/>
            <a:ext cx="3718852" cy="3017228"/>
          </a:xfrm>
          <a:custGeom>
            <a:avLst/>
            <a:gdLst/>
            <a:ahLst/>
            <a:cxnLst/>
            <a:rect l="l" t="t" r="r" b="b"/>
            <a:pathLst>
              <a:path w="3718852" h="3017228">
                <a:moveTo>
                  <a:pt x="0" y="0"/>
                </a:moveTo>
                <a:lnTo>
                  <a:pt x="3718852" y="0"/>
                </a:lnTo>
                <a:lnTo>
                  <a:pt x="3718852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351818" y="6635716"/>
            <a:ext cx="885962" cy="1300906"/>
          </a:xfrm>
          <a:custGeom>
            <a:avLst/>
            <a:gdLst/>
            <a:ahLst/>
            <a:cxnLst/>
            <a:rect l="l" t="t" r="r" b="b"/>
            <a:pathLst>
              <a:path w="885962" h="1300906">
                <a:moveTo>
                  <a:pt x="0" y="0"/>
                </a:moveTo>
                <a:lnTo>
                  <a:pt x="885962" y="0"/>
                </a:lnTo>
                <a:lnTo>
                  <a:pt x="88596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9548919" y="7082555"/>
            <a:ext cx="414780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 spc="-79">
                <a:solidFill>
                  <a:srgbClr val="F2F8F9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</p:txBody>
      </p:sp>
      <p:sp>
        <p:nvSpPr>
          <p:cNvPr id="43" name="Freeform 43"/>
          <p:cNvSpPr/>
          <p:nvPr/>
        </p:nvSpPr>
        <p:spPr>
          <a:xfrm>
            <a:off x="10445598" y="7062064"/>
            <a:ext cx="1968804" cy="1300906"/>
          </a:xfrm>
          <a:custGeom>
            <a:avLst/>
            <a:gdLst/>
            <a:ahLst/>
            <a:cxnLst/>
            <a:rect l="l" t="t" r="r" b="b"/>
            <a:pathLst>
              <a:path w="1968804" h="1300906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9644062" y="8549034"/>
            <a:ext cx="3053953" cy="70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Dashboard shows</a:t>
            </a:r>
          </a:p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data</a:t>
            </a:r>
          </a:p>
        </p:txBody>
      </p:sp>
      <p:sp>
        <p:nvSpPr>
          <p:cNvPr id="45" name="Freeform 45"/>
          <p:cNvSpPr/>
          <p:nvPr/>
        </p:nvSpPr>
        <p:spPr>
          <a:xfrm>
            <a:off x="12840976" y="7499343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3278488" y="6635716"/>
            <a:ext cx="3707914" cy="3017228"/>
          </a:xfrm>
          <a:custGeom>
            <a:avLst/>
            <a:gdLst/>
            <a:ahLst/>
            <a:cxnLst/>
            <a:rect l="l" t="t" r="r" b="b"/>
            <a:pathLst>
              <a:path w="3707914" h="3017228">
                <a:moveTo>
                  <a:pt x="0" y="0"/>
                </a:moveTo>
                <a:lnTo>
                  <a:pt x="3707914" y="0"/>
                </a:lnTo>
                <a:lnTo>
                  <a:pt x="3707914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3278488" y="6635716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3608792" y="7082555"/>
            <a:ext cx="438907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 spc="-79">
                <a:solidFill>
                  <a:srgbClr val="F2F8F9"/>
                </a:solidFill>
                <a:latin typeface="Inter Bold"/>
                <a:ea typeface="Inter Bold"/>
                <a:cs typeface="Inter Bold"/>
                <a:sym typeface="Inter Bold"/>
              </a:rPr>
              <a:t>08</a:t>
            </a:r>
          </a:p>
        </p:txBody>
      </p:sp>
      <p:sp>
        <p:nvSpPr>
          <p:cNvPr id="49" name="Freeform 49"/>
          <p:cNvSpPr/>
          <p:nvPr/>
        </p:nvSpPr>
        <p:spPr>
          <a:xfrm>
            <a:off x="14580086" y="7062064"/>
            <a:ext cx="1531292" cy="1300906"/>
          </a:xfrm>
          <a:custGeom>
            <a:avLst/>
            <a:gdLst/>
            <a:ahLst/>
            <a:cxnLst/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4037469" y="8549034"/>
            <a:ext cx="2437805" cy="70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Sales team</a:t>
            </a:r>
          </a:p>
          <a:p>
            <a:pPr algn="ctr">
              <a:lnSpc>
                <a:spcPts val="2844"/>
              </a:lnSpc>
            </a:pPr>
            <a:r>
              <a:rPr lang="en-US" sz="2188" b="1" spc="-65">
                <a:solidFill>
                  <a:srgbClr val="071F5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follows up</a:t>
            </a:r>
          </a:p>
        </p:txBody>
      </p:sp>
      <p:sp>
        <p:nvSpPr>
          <p:cNvPr id="51" name="Freeform 51"/>
          <p:cNvSpPr/>
          <p:nvPr/>
        </p:nvSpPr>
        <p:spPr>
          <a:xfrm>
            <a:off x="16756708" y="7499343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5173831" y="3693866"/>
            <a:ext cx="431720" cy="423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2654" b="1" spc="-79">
                <a:solidFill>
                  <a:srgbClr val="F2F8F9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6691" y="3692598"/>
            <a:ext cx="361392" cy="41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548" b="1" spc="-75">
                <a:solidFill>
                  <a:srgbClr val="F2F8F9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7907" y="759422"/>
            <a:ext cx="5514284" cy="277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2"/>
              </a:lnSpc>
            </a:pPr>
            <a:r>
              <a:rPr lang="en-US" sz="6507" b="1" spc="-130">
                <a:solidFill>
                  <a:srgbClr val="1B294A"/>
                </a:solidFill>
                <a:latin typeface="Inter Bold"/>
                <a:ea typeface="Inter Bold"/>
                <a:cs typeface="Inter Bold"/>
                <a:sym typeface="Inter Bold"/>
              </a:rPr>
              <a:t>Dashboard — See the Leads at a Glance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3933785"/>
            <a:ext cx="448450" cy="874559"/>
          </a:xfrm>
          <a:custGeom>
            <a:avLst/>
            <a:gdLst/>
            <a:ahLst/>
            <a:cxnLst/>
            <a:rect l="l" t="t" r="r" b="b"/>
            <a:pathLst>
              <a:path w="448450" h="874559">
                <a:moveTo>
                  <a:pt x="0" y="0"/>
                </a:moveTo>
                <a:lnTo>
                  <a:pt x="448450" y="0"/>
                </a:lnTo>
                <a:lnTo>
                  <a:pt x="44845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59372" y="4171156"/>
            <a:ext cx="3897993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55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Review lead </a:t>
            </a:r>
            <a:r>
              <a:rPr lang="en-US" sz="2759" b="1" spc="-55">
                <a:solidFill>
                  <a:srgbClr val="58B9C4"/>
                </a:solidFill>
                <a:latin typeface="Inter Bold"/>
                <a:ea typeface="Inter Bold"/>
                <a:cs typeface="Inter Bold"/>
                <a:sym typeface="Inter Bold"/>
              </a:rPr>
              <a:t>categories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4797412"/>
            <a:ext cx="448450" cy="1289974"/>
          </a:xfrm>
          <a:custGeom>
            <a:avLst/>
            <a:gdLst/>
            <a:ahLst/>
            <a:cxnLst/>
            <a:rect l="l" t="t" r="r" b="b"/>
            <a:pathLst>
              <a:path w="448450" h="1289974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53318" y="5008710"/>
            <a:ext cx="4503382" cy="8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545454"/>
                </a:solidFill>
                <a:latin typeface="Inter Medium"/>
                <a:ea typeface="Inter Medium"/>
                <a:cs typeface="Inter Medium"/>
                <a:sym typeface="Inter Medium"/>
              </a:rPr>
              <a:t>Compare </a:t>
            </a:r>
            <a:r>
              <a:rPr lang="en-US" sz="2601" b="1" spc="-52">
                <a:solidFill>
                  <a:srgbClr val="1B294A"/>
                </a:solidFill>
                <a:latin typeface="Inter Medium"/>
                <a:ea typeface="Inter Medium"/>
                <a:cs typeface="Inter Medium"/>
                <a:sym typeface="Inter Medium"/>
              </a:rPr>
              <a:t>product</a:t>
            </a:r>
          </a:p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1B294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requirements and quantities</a:t>
            </a:r>
          </a:p>
        </p:txBody>
      </p:sp>
      <p:sp>
        <p:nvSpPr>
          <p:cNvPr id="8" name="Freeform 8"/>
          <p:cNvSpPr/>
          <p:nvPr/>
        </p:nvSpPr>
        <p:spPr>
          <a:xfrm>
            <a:off x="426574" y="6076454"/>
            <a:ext cx="448450" cy="874559"/>
          </a:xfrm>
          <a:custGeom>
            <a:avLst/>
            <a:gdLst/>
            <a:ahLst/>
            <a:cxnLst/>
            <a:rect l="l" t="t" r="r" b="b"/>
            <a:pathLst>
              <a:path w="448450" h="874559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50678" y="6294734"/>
            <a:ext cx="4767357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55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Spot records </a:t>
            </a:r>
            <a:r>
              <a:rPr lang="en-US" sz="2759" b="1" spc="-55">
                <a:solidFill>
                  <a:srgbClr val="E87967"/>
                </a:solidFill>
                <a:latin typeface="Inter Bold"/>
                <a:ea typeface="Inter Bold"/>
                <a:cs typeface="Inter Bold"/>
                <a:sym typeface="Inter Bold"/>
              </a:rPr>
              <a:t>missing details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6970063"/>
            <a:ext cx="448450" cy="1289974"/>
          </a:xfrm>
          <a:custGeom>
            <a:avLst/>
            <a:gdLst/>
            <a:ahLst/>
            <a:cxnLst/>
            <a:rect l="l" t="t" r="r" b="b"/>
            <a:pathLst>
              <a:path w="448450" h="1289974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72986" y="7147210"/>
            <a:ext cx="2536597" cy="84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54545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Use the view to</a:t>
            </a:r>
          </a:p>
          <a:p>
            <a:pPr algn="l">
              <a:lnSpc>
                <a:spcPts val="3381"/>
              </a:lnSpc>
            </a:pPr>
            <a:r>
              <a:rPr lang="en-US" sz="2601" b="1" spc="-52">
                <a:solidFill>
                  <a:srgbClr val="F6D167"/>
                </a:solidFill>
                <a:latin typeface="Inter Bold"/>
                <a:ea typeface="Inter Bold"/>
                <a:cs typeface="Inter Bold"/>
                <a:sym typeface="Inter Bold"/>
              </a:rPr>
              <a:t>plan follow-ups</a:t>
            </a:r>
          </a:p>
        </p:txBody>
      </p:sp>
      <p:sp>
        <p:nvSpPr>
          <p:cNvPr id="12" name="Freeform 12"/>
          <p:cNvSpPr/>
          <p:nvPr/>
        </p:nvSpPr>
        <p:spPr>
          <a:xfrm>
            <a:off x="6529866" y="426348"/>
            <a:ext cx="1093780" cy="9007957"/>
          </a:xfrm>
          <a:custGeom>
            <a:avLst/>
            <a:gdLst/>
            <a:ahLst/>
            <a:cxnLst/>
            <a:rect l="l" t="t" r="r" b="b"/>
            <a:pathLst>
              <a:path w="1093780" h="9007957">
                <a:moveTo>
                  <a:pt x="0" y="0"/>
                </a:moveTo>
                <a:lnTo>
                  <a:pt x="1093780" y="0"/>
                </a:lnTo>
                <a:lnTo>
                  <a:pt x="1093780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529866" y="1497682"/>
            <a:ext cx="1093780" cy="655919"/>
          </a:xfrm>
          <a:custGeom>
            <a:avLst/>
            <a:gdLst/>
            <a:ahLst/>
            <a:cxnLst/>
            <a:rect l="l" t="t" r="r" b="b"/>
            <a:pathLst>
              <a:path w="1093780" h="655919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442424" y="404538"/>
            <a:ext cx="10467474" cy="9007957"/>
          </a:xfrm>
          <a:custGeom>
            <a:avLst/>
            <a:gdLst/>
            <a:ahLst/>
            <a:cxnLst/>
            <a:rect l="l" t="t" r="r" b="b"/>
            <a:pathLst>
              <a:path w="10467474" h="9007957">
                <a:moveTo>
                  <a:pt x="0" y="0"/>
                </a:moveTo>
                <a:lnTo>
                  <a:pt x="10467474" y="0"/>
                </a:lnTo>
                <a:lnTo>
                  <a:pt x="10467474" y="9007957"/>
                </a:lnTo>
                <a:lnTo>
                  <a:pt x="0" y="900795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875842" y="907593"/>
            <a:ext cx="2693164" cy="439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2759" b="1" spc="-55">
                <a:solidFill>
                  <a:srgbClr val="1B294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Leads Overview</a:t>
            </a:r>
          </a:p>
        </p:txBody>
      </p:sp>
      <p:sp>
        <p:nvSpPr>
          <p:cNvPr id="16" name="Freeform 16"/>
          <p:cNvSpPr/>
          <p:nvPr/>
        </p:nvSpPr>
        <p:spPr>
          <a:xfrm>
            <a:off x="8964109" y="2170430"/>
            <a:ext cx="2148695" cy="2350377"/>
          </a:xfrm>
          <a:custGeom>
            <a:avLst/>
            <a:gdLst/>
            <a:ahLst/>
            <a:cxnLst/>
            <a:rect l="l" t="t" r="r" b="b"/>
            <a:pathLst>
              <a:path w="2148695" h="2350377">
                <a:moveTo>
                  <a:pt x="0" y="0"/>
                </a:moveTo>
                <a:lnTo>
                  <a:pt x="2148695" y="0"/>
                </a:lnTo>
                <a:lnTo>
                  <a:pt x="2148695" y="2350377"/>
                </a:lnTo>
                <a:lnTo>
                  <a:pt x="0" y="23503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8050220" y="4493047"/>
            <a:ext cx="3062584" cy="437279"/>
          </a:xfrm>
          <a:custGeom>
            <a:avLst/>
            <a:gdLst/>
            <a:ahLst/>
            <a:cxnLst/>
            <a:rect l="l" t="t" r="r" b="b"/>
            <a:pathLst>
              <a:path w="3062584" h="437279">
                <a:moveTo>
                  <a:pt x="0" y="0"/>
                </a:moveTo>
                <a:lnTo>
                  <a:pt x="3062584" y="0"/>
                </a:lnTo>
                <a:lnTo>
                  <a:pt x="306258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050220" y="4711687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383263" y="2350377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622220" y="4493047"/>
            <a:ext cx="3281340" cy="437279"/>
          </a:xfrm>
          <a:custGeom>
            <a:avLst/>
            <a:gdLst/>
            <a:ahLst/>
            <a:cxnLst/>
            <a:rect l="l" t="t" r="r" b="b"/>
            <a:pathLst>
              <a:path w="3281340" h="437279">
                <a:moveTo>
                  <a:pt x="0" y="0"/>
                </a:moveTo>
                <a:lnTo>
                  <a:pt x="3281340" y="0"/>
                </a:lnTo>
                <a:lnTo>
                  <a:pt x="328134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622220" y="4711687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8214124" y="5697057"/>
            <a:ext cx="3060555" cy="27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 spc="-33">
                <a:solidFill>
                  <a:srgbClr val="1B294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Info Gaps in leads</a:t>
            </a:r>
          </a:p>
        </p:txBody>
      </p:sp>
      <p:sp>
        <p:nvSpPr>
          <p:cNvPr id="23" name="Freeform 23"/>
          <p:cNvSpPr/>
          <p:nvPr/>
        </p:nvSpPr>
        <p:spPr>
          <a:xfrm>
            <a:off x="8168934" y="8352038"/>
            <a:ext cx="3281340" cy="229572"/>
          </a:xfrm>
          <a:custGeom>
            <a:avLst/>
            <a:gdLst/>
            <a:ahLst/>
            <a:cxnLst/>
            <a:rect l="l" t="t" r="r" b="b"/>
            <a:pathLst>
              <a:path w="3281340" h="229572">
                <a:moveTo>
                  <a:pt x="0" y="0"/>
                </a:moveTo>
                <a:lnTo>
                  <a:pt x="3281340" y="0"/>
                </a:lnTo>
                <a:lnTo>
                  <a:pt x="3281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168934" y="8570678"/>
            <a:ext cx="1312536" cy="437279"/>
          </a:xfrm>
          <a:custGeom>
            <a:avLst/>
            <a:gdLst/>
            <a:ahLst/>
            <a:cxnLst/>
            <a:rect l="l" t="t" r="r" b="b"/>
            <a:pathLst>
              <a:path w="1312536" h="437279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2676161" y="1826421"/>
            <a:ext cx="4069381" cy="274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 spc="-33">
                <a:solidFill>
                  <a:srgbClr val="1B294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Enquires By Product Type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72385" y="1826421"/>
            <a:ext cx="1791201" cy="54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1" spc="-33">
                <a:solidFill>
                  <a:srgbClr val="1B294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Enquiry Status Breakdown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75307" y="5965966"/>
            <a:ext cx="2260315" cy="2252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8976" y="2350377"/>
            <a:ext cx="10019024" cy="7936623"/>
          </a:xfrm>
          <a:custGeom>
            <a:avLst/>
            <a:gdLst/>
            <a:ahLst/>
            <a:cxnLst/>
            <a:rect l="l" t="t" r="r" b="b"/>
            <a:pathLst>
              <a:path w="10019024" h="7936623">
                <a:moveTo>
                  <a:pt x="0" y="0"/>
                </a:moveTo>
                <a:lnTo>
                  <a:pt x="10019024" y="0"/>
                </a:lnTo>
                <a:lnTo>
                  <a:pt x="10019024" y="7936623"/>
                </a:lnTo>
                <a:lnTo>
                  <a:pt x="0" y="7936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90439" y="1076815"/>
            <a:ext cx="12038962" cy="95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4"/>
              </a:lnSpc>
            </a:pPr>
            <a:r>
              <a:rPr lang="en-US" sz="7294" b="1" spc="-181">
                <a:solidFill>
                  <a:srgbClr val="182A4F"/>
                </a:solidFill>
                <a:latin typeface="Inter Bold"/>
                <a:ea typeface="Inter Bold"/>
                <a:cs typeface="Inter Bold"/>
                <a:sym typeface="Inter Bold"/>
              </a:rPr>
              <a:t>Expected Business Benefits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3007" y="3047418"/>
            <a:ext cx="11460991" cy="32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sz="2351" b="1" spc="-58">
                <a:solidFill>
                  <a:srgbClr val="5D5D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AI-powered classification and automation create value across your sales process.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640352"/>
            <a:ext cx="3062584" cy="2579949"/>
          </a:xfrm>
          <a:custGeom>
            <a:avLst/>
            <a:gdLst/>
            <a:ahLst/>
            <a:cxnLst/>
            <a:rect l="l" t="t" r="r" b="b"/>
            <a:pathLst>
              <a:path w="3062584" h="2579949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66242" y="6645174"/>
            <a:ext cx="1741289" cy="148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Less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repetitive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manual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sorting</a:t>
            </a:r>
          </a:p>
        </p:txBody>
      </p:sp>
      <p:sp>
        <p:nvSpPr>
          <p:cNvPr id="8" name="Freeform 8"/>
          <p:cNvSpPr/>
          <p:nvPr/>
        </p:nvSpPr>
        <p:spPr>
          <a:xfrm>
            <a:off x="3478220" y="3640352"/>
            <a:ext cx="3062584" cy="2579949"/>
          </a:xfrm>
          <a:custGeom>
            <a:avLst/>
            <a:gdLst/>
            <a:ahLst/>
            <a:cxnLst/>
            <a:rect l="l" t="t" r="r" b="b"/>
            <a:pathLst>
              <a:path w="3062584" h="2579949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018359" y="6645174"/>
            <a:ext cx="1875234" cy="148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More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consistent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lead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records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311110" y="3640352"/>
            <a:ext cx="2832890" cy="2579949"/>
          </a:xfrm>
          <a:custGeom>
            <a:avLst/>
            <a:gdLst/>
            <a:ahLst/>
            <a:cxnLst/>
            <a:rect l="l" t="t" r="r" b="b"/>
            <a:pathLst>
              <a:path w="2832890" h="2579949">
                <a:moveTo>
                  <a:pt x="0" y="0"/>
                </a:moveTo>
                <a:lnTo>
                  <a:pt x="2832890" y="0"/>
                </a:lnTo>
                <a:lnTo>
                  <a:pt x="283289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670477" y="6651868"/>
            <a:ext cx="2089547" cy="1106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Clearer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customer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requirements</a:t>
            </a:r>
          </a:p>
        </p:txBody>
      </p:sp>
      <p:sp>
        <p:nvSpPr>
          <p:cNvPr id="12" name="Freeform 12"/>
          <p:cNvSpPr/>
          <p:nvPr/>
        </p:nvSpPr>
        <p:spPr>
          <a:xfrm>
            <a:off x="8925244" y="3640352"/>
            <a:ext cx="3051646" cy="2579949"/>
          </a:xfrm>
          <a:custGeom>
            <a:avLst/>
            <a:gdLst/>
            <a:ahLst/>
            <a:cxnLst/>
            <a:rect l="l" t="t" r="r" b="b"/>
            <a:pathLst>
              <a:path w="3051646" h="2579949">
                <a:moveTo>
                  <a:pt x="0" y="0"/>
                </a:moveTo>
                <a:lnTo>
                  <a:pt x="3051646" y="0"/>
                </a:lnTo>
                <a:lnTo>
                  <a:pt x="305164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510117" y="6645174"/>
            <a:ext cx="1875234" cy="148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Missing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details are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easier to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spot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747196" y="3640352"/>
            <a:ext cx="2843828" cy="2579949"/>
          </a:xfrm>
          <a:custGeom>
            <a:avLst/>
            <a:gdLst/>
            <a:ahLst/>
            <a:cxnLst/>
            <a:rect l="l" t="t" r="r" b="b"/>
            <a:pathLst>
              <a:path w="2843828" h="2579949">
                <a:moveTo>
                  <a:pt x="0" y="0"/>
                </a:moveTo>
                <a:lnTo>
                  <a:pt x="2843828" y="0"/>
                </a:lnTo>
                <a:lnTo>
                  <a:pt x="284382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242602" y="6645174"/>
            <a:ext cx="1875234" cy="1481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Follow-up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planning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becomes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simpler</a:t>
            </a:r>
          </a:p>
        </p:txBody>
      </p:sp>
      <p:sp>
        <p:nvSpPr>
          <p:cNvPr id="16" name="Freeform 16"/>
          <p:cNvSpPr/>
          <p:nvPr/>
        </p:nvSpPr>
        <p:spPr>
          <a:xfrm>
            <a:off x="14580086" y="3640352"/>
            <a:ext cx="3062584" cy="2579949"/>
          </a:xfrm>
          <a:custGeom>
            <a:avLst/>
            <a:gdLst/>
            <a:ahLst/>
            <a:cxnLst/>
            <a:rect l="l" t="t" r="r" b="b"/>
            <a:pathLst>
              <a:path w="3062584" h="2579949">
                <a:moveTo>
                  <a:pt x="0" y="0"/>
                </a:moveTo>
                <a:lnTo>
                  <a:pt x="3062584" y="0"/>
                </a:lnTo>
                <a:lnTo>
                  <a:pt x="306258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4841141" y="6661072"/>
            <a:ext cx="2116336" cy="185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Sales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decisions</a:t>
            </a:r>
          </a:p>
          <a:p>
            <a:pPr algn="ctr">
              <a:lnSpc>
                <a:spcPts val="3064"/>
              </a:lnSpc>
            </a:pPr>
            <a:r>
              <a:rPr lang="en-US" sz="2188" b="1" spc="-54">
                <a:solidFill>
                  <a:srgbClr val="182A4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have better-organized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635716"/>
            <a:ext cx="7842402" cy="3651284"/>
          </a:xfrm>
          <a:custGeom>
            <a:avLst/>
            <a:gdLst/>
            <a:ahLst/>
            <a:cxnLst/>
            <a:rect l="l" t="t" r="r" b="b"/>
            <a:pathLst>
              <a:path w="7842402" h="3651284">
                <a:moveTo>
                  <a:pt x="0" y="0"/>
                </a:moveTo>
                <a:lnTo>
                  <a:pt x="7842402" y="0"/>
                </a:lnTo>
                <a:lnTo>
                  <a:pt x="7842402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45598" y="6854356"/>
            <a:ext cx="7842402" cy="3432644"/>
          </a:xfrm>
          <a:custGeom>
            <a:avLst/>
            <a:gdLst/>
            <a:ahLst/>
            <a:cxnLst/>
            <a:rect l="l" t="t" r="r" b="b"/>
            <a:pathLst>
              <a:path w="7842402" h="3432644">
                <a:moveTo>
                  <a:pt x="0" y="0"/>
                </a:moveTo>
                <a:lnTo>
                  <a:pt x="7842402" y="0"/>
                </a:lnTo>
                <a:lnTo>
                  <a:pt x="784240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56879" y="713178"/>
            <a:ext cx="9321450" cy="1894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8"/>
              </a:lnSpc>
            </a:pPr>
            <a:r>
              <a:rPr lang="en-US" sz="6755" b="1" spc="-135">
                <a:solidFill>
                  <a:srgbClr val="112D5B"/>
                </a:solidFill>
                <a:latin typeface="Inter Bold"/>
                <a:ea typeface="Inter Bold"/>
                <a:cs typeface="Inter Bold"/>
                <a:sym typeface="Inter Bold"/>
              </a:rPr>
              <a:t>Conclusion —</a:t>
            </a:r>
          </a:p>
          <a:p>
            <a:pPr algn="l">
              <a:lnSpc>
                <a:spcPts val="7428"/>
              </a:lnSpc>
            </a:pPr>
            <a:r>
              <a:rPr lang="en-US" sz="6755" b="1" spc="-135">
                <a:solidFill>
                  <a:srgbClr val="112D5B"/>
                </a:solidFill>
                <a:latin typeface="Inter Bold"/>
                <a:ea typeface="Inter Bold"/>
                <a:cs typeface="Inter Bold"/>
                <a:sym typeface="Inter Bold"/>
              </a:rPr>
              <a:t>From Enquiry to Action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3214004"/>
            <a:ext cx="3062584" cy="3651284"/>
          </a:xfrm>
          <a:custGeom>
            <a:avLst/>
            <a:gdLst/>
            <a:ahLst/>
            <a:cxnLst/>
            <a:rect l="l" t="t" r="r" b="b"/>
            <a:pathLst>
              <a:path w="3062584" h="3651284">
                <a:moveTo>
                  <a:pt x="0" y="0"/>
                </a:moveTo>
                <a:lnTo>
                  <a:pt x="3062584" y="0"/>
                </a:lnTo>
                <a:lnTo>
                  <a:pt x="306258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6574" y="3214004"/>
            <a:ext cx="3062584" cy="1289974"/>
          </a:xfrm>
          <a:custGeom>
            <a:avLst/>
            <a:gdLst/>
            <a:ahLst/>
            <a:cxnLst/>
            <a:rect l="l" t="t" r="r" b="b"/>
            <a:pathLst>
              <a:path w="3062584" h="1289974">
                <a:moveTo>
                  <a:pt x="0" y="0"/>
                </a:moveTo>
                <a:lnTo>
                  <a:pt x="3062584" y="0"/>
                </a:lnTo>
                <a:lnTo>
                  <a:pt x="306258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48513" y="3692639"/>
            <a:ext cx="1602237" cy="33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46">
                <a:solidFill>
                  <a:srgbClr val="F2F2F2"/>
                </a:solidFill>
                <a:latin typeface="Inter Bold"/>
                <a:ea typeface="Inter Bold"/>
                <a:cs typeface="Inter Bold"/>
                <a:sym typeface="Inter Bold"/>
              </a:rPr>
              <a:t>1. ENQUIRY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1821" y="4703805"/>
            <a:ext cx="2295620" cy="105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Customer enquiries</a:t>
            </a:r>
          </a:p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arrive from</a:t>
            </a:r>
          </a:p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multiple sources.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4086" y="6209369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478220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915732" y="3214004"/>
            <a:ext cx="3270402" cy="3651284"/>
          </a:xfrm>
          <a:custGeom>
            <a:avLst/>
            <a:gdLst/>
            <a:ahLst/>
            <a:cxnLst/>
            <a:rect l="l" t="t" r="r" b="b"/>
            <a:pathLst>
              <a:path w="3270402" h="3651284">
                <a:moveTo>
                  <a:pt x="0" y="0"/>
                </a:moveTo>
                <a:lnTo>
                  <a:pt x="3270402" y="0"/>
                </a:lnTo>
                <a:lnTo>
                  <a:pt x="3270402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915732" y="3214004"/>
            <a:ext cx="3270402" cy="1289974"/>
          </a:xfrm>
          <a:custGeom>
            <a:avLst/>
            <a:gdLst/>
            <a:ahLst/>
            <a:cxnLst/>
            <a:rect l="l" t="t" r="r" b="b"/>
            <a:pathLst>
              <a:path w="3270402" h="1289974">
                <a:moveTo>
                  <a:pt x="0" y="0"/>
                </a:moveTo>
                <a:lnTo>
                  <a:pt x="3270402" y="0"/>
                </a:lnTo>
                <a:lnTo>
                  <a:pt x="327040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331989" y="3692639"/>
            <a:ext cx="2403655" cy="33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46">
                <a:solidFill>
                  <a:srgbClr val="F2F2F2"/>
                </a:solidFill>
                <a:latin typeface="Inter Bold"/>
                <a:ea typeface="Inter Bold"/>
                <a:cs typeface="Inter Bold"/>
                <a:sym typeface="Inter Bold"/>
              </a:rPr>
              <a:t>2. AUTOMATION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2630" y="4703805"/>
            <a:ext cx="1902373" cy="105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n8n coordinates</a:t>
            </a:r>
          </a:p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end-to-end</a:t>
            </a:r>
          </a:p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workflow.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53244" y="6209369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956440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612708" y="3214004"/>
            <a:ext cx="3062584" cy="3651284"/>
          </a:xfrm>
          <a:custGeom>
            <a:avLst/>
            <a:gdLst/>
            <a:ahLst/>
            <a:cxnLst/>
            <a:rect l="l" t="t" r="r" b="b"/>
            <a:pathLst>
              <a:path w="3062584" h="3651284">
                <a:moveTo>
                  <a:pt x="0" y="0"/>
                </a:moveTo>
                <a:lnTo>
                  <a:pt x="3062584" y="0"/>
                </a:lnTo>
                <a:lnTo>
                  <a:pt x="306258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612708" y="3214004"/>
            <a:ext cx="3062584" cy="1289974"/>
          </a:xfrm>
          <a:custGeom>
            <a:avLst/>
            <a:gdLst/>
            <a:ahLst/>
            <a:cxnLst/>
            <a:rect l="l" t="t" r="r" b="b"/>
            <a:pathLst>
              <a:path w="3062584" h="1289974">
                <a:moveTo>
                  <a:pt x="0" y="0"/>
                </a:moveTo>
                <a:lnTo>
                  <a:pt x="3062584" y="0"/>
                </a:lnTo>
                <a:lnTo>
                  <a:pt x="306258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742546" y="3692038"/>
            <a:ext cx="2704146" cy="330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2179" b="1" spc="-43">
                <a:solidFill>
                  <a:srgbClr val="F2F2F2"/>
                </a:solidFill>
                <a:latin typeface="Inter Bold"/>
                <a:ea typeface="Inter Bold"/>
                <a:cs typeface="Inter Bold"/>
                <a:sym typeface="Inter Bold"/>
              </a:rPr>
              <a:t>3. CLASSIFICATION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4164" y="4704586"/>
            <a:ext cx="2536799" cy="1342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b="1" spc="-37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Python applies custom processing. LLM classifies</a:t>
            </a:r>
          </a:p>
          <a:p>
            <a:pPr algn="ctr">
              <a:lnSpc>
                <a:spcPts val="2794"/>
              </a:lnSpc>
            </a:pPr>
            <a:r>
              <a:rPr lang="en-US" sz="1863" b="1" spc="-37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enquiry text.</a:t>
            </a:r>
          </a:p>
        </p:txBody>
      </p:sp>
      <p:sp>
        <p:nvSpPr>
          <p:cNvPr id="22" name="Freeform 22"/>
          <p:cNvSpPr/>
          <p:nvPr/>
        </p:nvSpPr>
        <p:spPr>
          <a:xfrm>
            <a:off x="7831464" y="6209369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445598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101866" y="3214004"/>
            <a:ext cx="3051646" cy="3651284"/>
          </a:xfrm>
          <a:custGeom>
            <a:avLst/>
            <a:gdLst/>
            <a:ahLst/>
            <a:cxnLst/>
            <a:rect l="l" t="t" r="r" b="b"/>
            <a:pathLst>
              <a:path w="3051646" h="3651284">
                <a:moveTo>
                  <a:pt x="0" y="0"/>
                </a:moveTo>
                <a:lnTo>
                  <a:pt x="3051646" y="0"/>
                </a:lnTo>
                <a:lnTo>
                  <a:pt x="3051646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101866" y="3214004"/>
            <a:ext cx="3051646" cy="1289974"/>
          </a:xfrm>
          <a:custGeom>
            <a:avLst/>
            <a:gdLst/>
            <a:ahLst/>
            <a:cxnLst/>
            <a:rect l="l" t="t" r="r" b="b"/>
            <a:pathLst>
              <a:path w="3051646" h="1289974">
                <a:moveTo>
                  <a:pt x="0" y="0"/>
                </a:moveTo>
                <a:lnTo>
                  <a:pt x="3051646" y="0"/>
                </a:lnTo>
                <a:lnTo>
                  <a:pt x="3051646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442887" y="3511909"/>
            <a:ext cx="2354882" cy="67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46">
                <a:solidFill>
                  <a:srgbClr val="F2F2F2"/>
                </a:solidFill>
                <a:latin typeface="Inter Bold"/>
                <a:ea typeface="Inter Bold"/>
                <a:cs typeface="Inter Bold"/>
                <a:sym typeface="Inter Bold"/>
              </a:rPr>
              <a:t>4. STRUCTURED LEADS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639155" y="4703805"/>
            <a:ext cx="1909838" cy="1055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Google Sheets</a:t>
            </a:r>
          </a:p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stores and</a:t>
            </a:r>
          </a:p>
          <a:p>
            <a:pPr algn="ctr">
              <a:lnSpc>
                <a:spcPts val="2874"/>
              </a:lnSpc>
            </a:pPr>
            <a:r>
              <a:rPr lang="en-US" sz="1916" b="1" spc="-38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organizes leads.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528440" y="6209369"/>
            <a:ext cx="2187560" cy="229572"/>
          </a:xfrm>
          <a:custGeom>
            <a:avLst/>
            <a:gdLst/>
            <a:ahLst/>
            <a:cxnLst/>
            <a:rect l="l" t="t" r="r" b="b"/>
            <a:pathLst>
              <a:path w="2187560" h="229572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142574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580086" y="3214004"/>
            <a:ext cx="3062584" cy="3651284"/>
          </a:xfrm>
          <a:custGeom>
            <a:avLst/>
            <a:gdLst/>
            <a:ahLst/>
            <a:cxnLst/>
            <a:rect l="l" t="t" r="r" b="b"/>
            <a:pathLst>
              <a:path w="3062584" h="3651284">
                <a:moveTo>
                  <a:pt x="0" y="0"/>
                </a:moveTo>
                <a:lnTo>
                  <a:pt x="3062584" y="0"/>
                </a:lnTo>
                <a:lnTo>
                  <a:pt x="306258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4580086" y="3214004"/>
            <a:ext cx="3062584" cy="1289974"/>
          </a:xfrm>
          <a:custGeom>
            <a:avLst/>
            <a:gdLst/>
            <a:ahLst/>
            <a:cxnLst/>
            <a:rect l="l" t="t" r="r" b="b"/>
            <a:pathLst>
              <a:path w="3062584" h="1289974">
                <a:moveTo>
                  <a:pt x="0" y="0"/>
                </a:moveTo>
                <a:lnTo>
                  <a:pt x="3062584" y="0"/>
                </a:lnTo>
                <a:lnTo>
                  <a:pt x="306258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5089708" y="3692639"/>
            <a:ext cx="2133551" cy="33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46">
                <a:solidFill>
                  <a:srgbClr val="F2F2F2"/>
                </a:solidFill>
                <a:latin typeface="Inter Bold"/>
                <a:ea typeface="Inter Bold"/>
                <a:cs typeface="Inter Bold"/>
                <a:sym typeface="Inter Bold"/>
              </a:rPr>
              <a:t>5. FOLLOW-UP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091330" y="4704586"/>
            <a:ext cx="2130308" cy="1342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1863" b="1" spc="-37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Clean leads appear</a:t>
            </a:r>
          </a:p>
          <a:p>
            <a:pPr algn="ctr">
              <a:lnSpc>
                <a:spcPts val="2794"/>
              </a:lnSpc>
            </a:pPr>
            <a:r>
              <a:rPr lang="en-US" sz="1863" b="1" spc="-37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 the dashboard</a:t>
            </a:r>
          </a:p>
          <a:p>
            <a:pPr algn="ctr">
              <a:lnSpc>
                <a:spcPts val="2794"/>
              </a:lnSpc>
            </a:pPr>
            <a:r>
              <a:rPr lang="en-US" sz="1863" b="1" spc="-37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and are ready for</a:t>
            </a:r>
          </a:p>
          <a:p>
            <a:pPr algn="ctr">
              <a:lnSpc>
                <a:spcPts val="2794"/>
              </a:lnSpc>
            </a:pPr>
            <a:r>
              <a:rPr lang="en-US" sz="1863" b="1" spc="-37">
                <a:solidFill>
                  <a:srgbClr val="39445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sales follow-up.</a:t>
            </a:r>
          </a:p>
        </p:txBody>
      </p:sp>
      <p:sp>
        <p:nvSpPr>
          <p:cNvPr id="34" name="Freeform 34"/>
          <p:cNvSpPr/>
          <p:nvPr/>
        </p:nvSpPr>
        <p:spPr>
          <a:xfrm>
            <a:off x="15017598" y="6209369"/>
            <a:ext cx="2406316" cy="229572"/>
          </a:xfrm>
          <a:custGeom>
            <a:avLst/>
            <a:gdLst/>
            <a:ahLst/>
            <a:cxnLst/>
            <a:rect l="l" t="t" r="r" b="b"/>
            <a:pathLst>
              <a:path w="2406316" h="229572">
                <a:moveTo>
                  <a:pt x="0" y="0"/>
                </a:moveTo>
                <a:lnTo>
                  <a:pt x="2406316" y="0"/>
                </a:lnTo>
                <a:lnTo>
                  <a:pt x="2406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5465299" y="7666917"/>
            <a:ext cx="7357402" cy="1591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7"/>
              </a:lnSpc>
            </a:pPr>
            <a:r>
              <a:rPr lang="en-US" sz="11255" b="1" spc="-225">
                <a:solidFill>
                  <a:srgbClr val="112D5B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Custom</PresentationFormat>
  <Paragraphs>214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Inter Semi-Bold</vt:lpstr>
      <vt:lpstr>Inter</vt:lpstr>
      <vt:lpstr>Arial</vt:lpstr>
      <vt:lpstr>Inter Medium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Automation System</dc:title>
  <cp:lastModifiedBy>Ramesh kumar</cp:lastModifiedBy>
  <cp:revision>2</cp:revision>
  <dcterms:created xsi:type="dcterms:W3CDTF">2006-08-16T00:00:00Z</dcterms:created>
  <dcterms:modified xsi:type="dcterms:W3CDTF">2026-10-15T20:48:29Z</dcterms:modified>
  <dc:identifier>DAHYHAVzINI</dc:identifier>
</cp:coreProperties>
</file>